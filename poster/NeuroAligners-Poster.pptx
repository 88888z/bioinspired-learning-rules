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912">
          <p15:clr>
            <a:srgbClr val="A4A3A4"/>
          </p15:clr>
        </p15:guide>
        <p15:guide id="2" pos="10368">
          <p15:clr>
            <a:srgbClr val="A4A3A4"/>
          </p15:clr>
        </p15:guide>
        <p15:guide id="3" orient="horz" pos="10368">
          <p15:clr>
            <a:srgbClr val="A4A3A4"/>
          </p15:clr>
        </p15:guide>
        <p15:guide id="4" pos="13824">
          <p15:clr>
            <a:srgbClr val="A4A3A4"/>
          </p15:clr>
        </p15:guide>
      </p15:sldGuideLst>
    </p:ext>
    <p:ext uri="GoogleSlidesCustomDataVersion2">
      <go:slidesCustomData xmlns:go="http://customooxmlschemas.google.com/" r:id="rId7" roundtripDataSignature="AMtx7miAjo4sIw7mdbsDFlYh+Fcrwc33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912" orient="horz"/>
        <p:guide pos="10368"/>
        <p:guide pos="10368" orient="horz"/>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57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57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57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57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57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57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57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57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57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8698"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g2ee193558a9_0_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 name="Google Shape;18;g2ee193558a9_0_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1">
            <a:alphaModFix/>
          </a:blip>
          <a:srcRect b="0" l="0" r="0" t="0"/>
          <a:stretch/>
        </p:blipFill>
        <p:spPr>
          <a:xfrm rot="-5400000">
            <a:off x="-11074400" y="16459200"/>
            <a:ext cx="14274800" cy="3937000"/>
          </a:xfrm>
          <a:prstGeom prst="rect">
            <a:avLst/>
          </a:prstGeom>
          <a:noFill/>
          <a:ln>
            <a:noFill/>
          </a:ln>
        </p:spPr>
      </p:pic>
      <p:pic>
        <p:nvPicPr>
          <p:cNvPr id="11" name="Google Shape;11;p2"/>
          <p:cNvPicPr preferRelativeResize="0"/>
          <p:nvPr/>
        </p:nvPicPr>
        <p:blipFill rotWithShape="1">
          <a:blip r:embed="rId1">
            <a:alphaModFix/>
          </a:blip>
          <a:srcRect b="0" l="0" r="0" t="0"/>
          <a:stretch/>
        </p:blipFill>
        <p:spPr>
          <a:xfrm rot="5400000">
            <a:off x="40690800" y="16459200"/>
            <a:ext cx="14274800" cy="3937000"/>
          </a:xfrm>
          <a:prstGeom prst="rect">
            <a:avLst/>
          </a:prstGeom>
          <a:noFill/>
          <a:ln>
            <a:noFill/>
          </a:ln>
        </p:spPr>
      </p:pic>
      <p:pic>
        <p:nvPicPr>
          <p:cNvPr id="12" name="Google Shape;12;p2"/>
          <p:cNvPicPr preferRelativeResize="0"/>
          <p:nvPr/>
        </p:nvPicPr>
        <p:blipFill rotWithShape="1">
          <a:blip r:embed="rId2">
            <a:alphaModFix/>
          </a:blip>
          <a:srcRect b="0" l="0" r="0" t="0"/>
          <a:stretch/>
        </p:blipFill>
        <p:spPr>
          <a:xfrm>
            <a:off x="6946900" y="33426400"/>
            <a:ext cx="29997400" cy="1447800"/>
          </a:xfrm>
          <a:prstGeom prst="rect">
            <a:avLst/>
          </a:prstGeom>
          <a:noFill/>
          <a:ln>
            <a:noFill/>
          </a:ln>
        </p:spPr>
      </p:pic>
      <p:sp>
        <p:nvSpPr>
          <p:cNvPr id="13" name="Google Shape;13;p2"/>
          <p:cNvSpPr/>
          <p:nvPr/>
        </p:nvSpPr>
        <p:spPr>
          <a:xfrm>
            <a:off x="6946900" y="33997900"/>
            <a:ext cx="21945600" cy="127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560"/>
              <a:buFont typeface="Arial"/>
              <a:buNone/>
            </a:pPr>
            <a:r>
              <a:rPr b="0" i="0" lang="en-US" sz="4560" u="none" cap="none" strike="noStrike">
                <a:solidFill>
                  <a:srgbClr val="808080"/>
                </a:solidFill>
                <a:latin typeface="Arial"/>
                <a:ea typeface="Arial"/>
                <a:cs typeface="Arial"/>
                <a:sym typeface="Arial"/>
              </a:rPr>
              <a:t>Template ID: assessingslate  Size: 48x36</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8.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sp>
        <p:nvSpPr>
          <p:cNvPr id="20" name="Google Shape;20;g2ee193558a9_0_58"/>
          <p:cNvSpPr/>
          <p:nvPr/>
        </p:nvSpPr>
        <p:spPr>
          <a:xfrm>
            <a:off x="10668725" y="18934800"/>
            <a:ext cx="32658000" cy="13356900"/>
          </a:xfrm>
          <a:prstGeom prst="roundRect">
            <a:avLst>
              <a:gd fmla="val 1477" name="adj"/>
            </a:avLst>
          </a:prstGeom>
          <a:solidFill>
            <a:srgbClr val="C7EDB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800"/>
              <a:buFont typeface="Arial"/>
              <a:buNone/>
            </a:pPr>
            <a:r>
              <a:rPr b="1" i="0" lang="en-US" sz="6800" u="none" cap="none" strike="noStrike">
                <a:solidFill>
                  <a:srgbClr val="3F3F3F"/>
                </a:solidFill>
                <a:latin typeface="Trebuchet MS"/>
                <a:ea typeface="Trebuchet MS"/>
                <a:cs typeface="Trebuchet MS"/>
                <a:sym typeface="Trebuchet MS"/>
              </a:rPr>
              <a:t> </a:t>
            </a:r>
            <a:endParaRPr b="1" i="0" sz="6800" u="none" cap="none" strike="noStrike">
              <a:solidFill>
                <a:srgbClr val="3F3F3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6800"/>
              <a:buFont typeface="Arial"/>
              <a:buNone/>
            </a:pPr>
            <a:r>
              <a:t/>
            </a:r>
            <a:endParaRPr b="1" i="0" sz="6800" u="none" cap="none" strike="noStrike">
              <a:solidFill>
                <a:srgbClr val="3F3F3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6000"/>
              <a:buFont typeface="Arial"/>
              <a:buNone/>
            </a:pPr>
            <a:r>
              <a:t/>
            </a:r>
            <a:endParaRPr b="0" i="0" sz="6000" u="none" cap="none" strike="noStrike">
              <a:solidFill>
                <a:schemeClr val="dk1"/>
              </a:solidFill>
              <a:latin typeface="Arial"/>
              <a:ea typeface="Arial"/>
              <a:cs typeface="Arial"/>
              <a:sym typeface="Arial"/>
            </a:endParaRPr>
          </a:p>
        </p:txBody>
      </p:sp>
      <p:sp>
        <p:nvSpPr>
          <p:cNvPr id="21" name="Google Shape;21;g2ee193558a9_0_58"/>
          <p:cNvSpPr/>
          <p:nvPr/>
        </p:nvSpPr>
        <p:spPr>
          <a:xfrm>
            <a:off x="667425" y="16237350"/>
            <a:ext cx="9561300" cy="11568000"/>
          </a:xfrm>
          <a:prstGeom prst="roundRect">
            <a:avLst>
              <a:gd fmla="val 1477" name="adj"/>
            </a:avLst>
          </a:prstGeom>
          <a:solidFill>
            <a:srgbClr val="F0C19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Trebuchet MS"/>
              <a:ea typeface="Trebuchet MS"/>
              <a:cs typeface="Trebuchet MS"/>
              <a:sym typeface="Trebuchet MS"/>
            </a:endParaRPr>
          </a:p>
        </p:txBody>
      </p:sp>
      <p:sp>
        <p:nvSpPr>
          <p:cNvPr id="22" name="Google Shape;22;g2ee193558a9_0_58"/>
          <p:cNvSpPr/>
          <p:nvPr/>
        </p:nvSpPr>
        <p:spPr>
          <a:xfrm>
            <a:off x="0" y="0"/>
            <a:ext cx="43891200" cy="5162400"/>
          </a:xfrm>
          <a:prstGeom prst="rect">
            <a:avLst/>
          </a:prstGeom>
          <a:solidFill>
            <a:schemeClr val="dk1"/>
          </a:solidFill>
          <a:ln>
            <a:noFill/>
          </a:ln>
        </p:spPr>
        <p:txBody>
          <a:bodyPr anchorCtr="0" anchor="ctr" bIns="64000" lIns="128000" spcFirstLastPara="1" rIns="128000" wrap="square" tIns="64000">
            <a:noAutofit/>
          </a:bodyPr>
          <a:lstStyle/>
          <a:p>
            <a:pPr indent="0" lvl="0" marL="0" marR="0" rtl="0" algn="ctr">
              <a:lnSpc>
                <a:spcPct val="100000"/>
              </a:lnSpc>
              <a:spcBef>
                <a:spcPts val="0"/>
              </a:spcBef>
              <a:spcAft>
                <a:spcPts val="0"/>
              </a:spcAft>
              <a:buClr>
                <a:srgbClr val="000000"/>
              </a:buClr>
              <a:buSzPts val="8698"/>
              <a:buFont typeface="Arial"/>
              <a:buNone/>
            </a:pPr>
            <a:r>
              <a:t/>
            </a:r>
            <a:endParaRPr b="0" i="0" sz="8698" u="none" cap="none" strike="noStrike">
              <a:solidFill>
                <a:schemeClr val="dk1"/>
              </a:solidFill>
              <a:latin typeface="Arial"/>
              <a:ea typeface="Arial"/>
              <a:cs typeface="Arial"/>
              <a:sym typeface="Arial"/>
            </a:endParaRPr>
          </a:p>
        </p:txBody>
      </p:sp>
      <p:sp>
        <p:nvSpPr>
          <p:cNvPr id="23" name="Google Shape;23;g2ee193558a9_0_58"/>
          <p:cNvSpPr txBox="1"/>
          <p:nvPr/>
        </p:nvSpPr>
        <p:spPr>
          <a:xfrm>
            <a:off x="3145350" y="842225"/>
            <a:ext cx="37699500" cy="2544000"/>
          </a:xfrm>
          <a:prstGeom prst="rect">
            <a:avLst/>
          </a:prstGeom>
          <a:noFill/>
          <a:ln>
            <a:noFill/>
          </a:ln>
        </p:spPr>
        <p:txBody>
          <a:bodyPr anchorCtr="0" anchor="t" bIns="64000" lIns="128000" spcFirstLastPara="1" rIns="128000" wrap="square" tIns="64000">
            <a:noAutofit/>
          </a:bodyPr>
          <a:lstStyle/>
          <a:p>
            <a:pPr indent="0" lvl="0" marL="0" marR="0" rtl="0" algn="ctr">
              <a:lnSpc>
                <a:spcPct val="100000"/>
              </a:lnSpc>
              <a:spcBef>
                <a:spcPts val="0"/>
              </a:spcBef>
              <a:spcAft>
                <a:spcPts val="0"/>
              </a:spcAft>
              <a:buClr>
                <a:schemeClr val="lt1"/>
              </a:buClr>
              <a:buSzPts val="8500"/>
              <a:buFont typeface="Montserrat ExtraBold"/>
              <a:buNone/>
            </a:pPr>
            <a:r>
              <a:rPr b="1" lang="en-US" sz="8100">
                <a:solidFill>
                  <a:schemeClr val="lt1"/>
                </a:solidFill>
                <a:latin typeface="Trebuchet MS"/>
                <a:ea typeface="Trebuchet MS"/>
                <a:cs typeface="Trebuchet MS"/>
                <a:sym typeface="Trebuchet MS"/>
              </a:rPr>
              <a:t>How Close is Close Enough? Quantifying the Gap Between Feedback Alignment and Backpropagation</a:t>
            </a:r>
            <a:endParaRPr b="1" i="0" sz="8100" u="none" cap="none" strike="noStrike">
              <a:solidFill>
                <a:srgbClr val="000000"/>
              </a:solidFill>
              <a:latin typeface="Trebuchet MS"/>
              <a:ea typeface="Trebuchet MS"/>
              <a:cs typeface="Trebuchet MS"/>
              <a:sym typeface="Trebuchet MS"/>
            </a:endParaRPr>
          </a:p>
        </p:txBody>
      </p:sp>
      <p:sp>
        <p:nvSpPr>
          <p:cNvPr id="24" name="Google Shape;24;g2ee193558a9_0_58"/>
          <p:cNvSpPr txBox="1"/>
          <p:nvPr/>
        </p:nvSpPr>
        <p:spPr>
          <a:xfrm>
            <a:off x="571950" y="3649275"/>
            <a:ext cx="42846300" cy="945000"/>
          </a:xfrm>
          <a:prstGeom prst="rect">
            <a:avLst/>
          </a:prstGeom>
          <a:noFill/>
          <a:ln>
            <a:noFill/>
          </a:ln>
        </p:spPr>
        <p:txBody>
          <a:bodyPr anchorCtr="0" anchor="t" bIns="64000" lIns="128000" spcFirstLastPara="1" rIns="128000" wrap="square" tIns="64000">
            <a:spAutoFit/>
          </a:bodyPr>
          <a:lstStyle/>
          <a:p>
            <a:pPr indent="0" lvl="0" marL="0" rtl="0" algn="ctr">
              <a:spcBef>
                <a:spcPts val="1120"/>
              </a:spcBef>
              <a:spcAft>
                <a:spcPts val="0"/>
              </a:spcAft>
              <a:buClr>
                <a:schemeClr val="lt1"/>
              </a:buClr>
              <a:buSzPts val="5600"/>
              <a:buFont typeface="Arial"/>
              <a:buNone/>
            </a:pPr>
            <a:r>
              <a:rPr lang="en-US" sz="5300">
                <a:solidFill>
                  <a:schemeClr val="lt1"/>
                </a:solidFill>
                <a:latin typeface="Trebuchet MS"/>
                <a:ea typeface="Trebuchet MS"/>
                <a:cs typeface="Trebuchet MS"/>
                <a:sym typeface="Trebuchet MS"/>
              </a:rPr>
              <a:t>By: Avisa Fallah, Melina Mostafa, Alireza AlaeiFaradonbeh</a:t>
            </a:r>
            <a:r>
              <a:rPr lang="en-US" sz="5300">
                <a:solidFill>
                  <a:schemeClr val="lt1"/>
                </a:solidFill>
                <a:latin typeface="Trebuchet MS"/>
                <a:ea typeface="Trebuchet MS"/>
                <a:cs typeface="Trebuchet MS"/>
                <a:sym typeface="Trebuchet MS"/>
              </a:rPr>
              <a:t>, Yasaman Malahzadeh, </a:t>
            </a:r>
            <a:r>
              <a:rPr lang="en-US" sz="5300">
                <a:solidFill>
                  <a:schemeClr val="lt1"/>
                </a:solidFill>
                <a:latin typeface="Trebuchet MS"/>
                <a:ea typeface="Trebuchet MS"/>
                <a:cs typeface="Trebuchet MS"/>
                <a:sym typeface="Trebuchet MS"/>
              </a:rPr>
              <a:t>Morteza Hashemi, Mobina Golsefatan, Sina Pirmoradian</a:t>
            </a:r>
            <a:endParaRPr sz="5300">
              <a:solidFill>
                <a:schemeClr val="lt1"/>
              </a:solidFill>
              <a:latin typeface="Trebuchet MS"/>
              <a:ea typeface="Trebuchet MS"/>
              <a:cs typeface="Trebuchet MS"/>
              <a:sym typeface="Trebuchet MS"/>
            </a:endParaRPr>
          </a:p>
        </p:txBody>
      </p:sp>
      <p:sp>
        <p:nvSpPr>
          <p:cNvPr id="25" name="Google Shape;25;g2ee193558a9_0_58"/>
          <p:cNvSpPr/>
          <p:nvPr/>
        </p:nvSpPr>
        <p:spPr>
          <a:xfrm>
            <a:off x="32436625" y="5707575"/>
            <a:ext cx="10890000" cy="12785100"/>
          </a:xfrm>
          <a:prstGeom prst="roundRect">
            <a:avLst>
              <a:gd fmla="val 1592" name="adj"/>
            </a:avLst>
          </a:prstGeom>
          <a:solidFill>
            <a:srgbClr val="BFED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p:txBody>
      </p:sp>
      <p:sp>
        <p:nvSpPr>
          <p:cNvPr id="26" name="Google Shape;26;g2ee193558a9_0_58"/>
          <p:cNvSpPr txBox="1"/>
          <p:nvPr/>
        </p:nvSpPr>
        <p:spPr>
          <a:xfrm>
            <a:off x="32941607" y="6082700"/>
            <a:ext cx="91440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3F3F3F"/>
                </a:solidFill>
                <a:latin typeface="Trebuchet MS"/>
                <a:ea typeface="Trebuchet MS"/>
                <a:cs typeface="Trebuchet MS"/>
                <a:sym typeface="Trebuchet MS"/>
              </a:rPr>
              <a:t>CONCLUSIONS</a:t>
            </a:r>
            <a:endParaRPr b="1" i="0" sz="6000" u="none" cap="none" strike="noStrike">
              <a:solidFill>
                <a:srgbClr val="000000"/>
              </a:solidFill>
              <a:latin typeface="Trebuchet MS"/>
              <a:ea typeface="Trebuchet MS"/>
              <a:cs typeface="Trebuchet MS"/>
              <a:sym typeface="Trebuchet MS"/>
            </a:endParaRPr>
          </a:p>
        </p:txBody>
      </p:sp>
      <p:sp>
        <p:nvSpPr>
          <p:cNvPr id="27" name="Google Shape;27;g2ee193558a9_0_58"/>
          <p:cNvSpPr/>
          <p:nvPr/>
        </p:nvSpPr>
        <p:spPr>
          <a:xfrm>
            <a:off x="577725" y="5707575"/>
            <a:ext cx="9561300" cy="9984600"/>
          </a:xfrm>
          <a:prstGeom prst="roundRect">
            <a:avLst>
              <a:gd fmla="val 2004" name="adj"/>
            </a:avLst>
          </a:prstGeom>
          <a:solidFill>
            <a:srgbClr val="EDC5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t/>
            </a:r>
            <a:endParaRPr b="1" i="0" sz="4800" u="none" cap="none" strike="noStrike">
              <a:solidFill>
                <a:schemeClr val="dk1"/>
              </a:solidFill>
              <a:latin typeface="Trebuchet MS"/>
              <a:ea typeface="Trebuchet MS"/>
              <a:cs typeface="Trebuchet MS"/>
              <a:sym typeface="Trebuchet MS"/>
            </a:endParaRPr>
          </a:p>
        </p:txBody>
      </p:sp>
      <p:sp>
        <p:nvSpPr>
          <p:cNvPr id="28" name="Google Shape;28;g2ee193558a9_0_58"/>
          <p:cNvSpPr txBox="1"/>
          <p:nvPr/>
        </p:nvSpPr>
        <p:spPr>
          <a:xfrm>
            <a:off x="1107448" y="6082700"/>
            <a:ext cx="64998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3F3F3F"/>
                </a:solidFill>
                <a:latin typeface="Trebuchet MS"/>
                <a:ea typeface="Trebuchet MS"/>
                <a:cs typeface="Trebuchet MS"/>
                <a:sym typeface="Trebuchet MS"/>
              </a:rPr>
              <a:t>BACKGROUND</a:t>
            </a:r>
            <a:endParaRPr b="1" i="0" sz="6000" u="none" cap="none" strike="noStrike">
              <a:solidFill>
                <a:srgbClr val="000000"/>
              </a:solidFill>
              <a:latin typeface="Trebuchet MS"/>
              <a:ea typeface="Trebuchet MS"/>
              <a:cs typeface="Trebuchet MS"/>
              <a:sym typeface="Trebuchet MS"/>
            </a:endParaRPr>
          </a:p>
        </p:txBody>
      </p:sp>
      <p:sp>
        <p:nvSpPr>
          <p:cNvPr id="29" name="Google Shape;29;g2ee193558a9_0_58"/>
          <p:cNvSpPr/>
          <p:nvPr/>
        </p:nvSpPr>
        <p:spPr>
          <a:xfrm>
            <a:off x="10668725" y="5656050"/>
            <a:ext cx="21327900" cy="12785100"/>
          </a:xfrm>
          <a:prstGeom prst="roundRect">
            <a:avLst>
              <a:gd fmla="val 1477" name="adj"/>
            </a:avLst>
          </a:prstGeom>
          <a:solidFill>
            <a:srgbClr val="C7EDB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800"/>
              <a:buFont typeface="Arial"/>
              <a:buNone/>
            </a:pPr>
            <a:r>
              <a:rPr b="1" i="0" lang="en-US" sz="6800" u="none" cap="none" strike="noStrike">
                <a:solidFill>
                  <a:srgbClr val="3F3F3F"/>
                </a:solidFill>
                <a:latin typeface="Trebuchet MS"/>
                <a:ea typeface="Trebuchet MS"/>
                <a:cs typeface="Trebuchet MS"/>
                <a:sym typeface="Trebuchet MS"/>
              </a:rPr>
              <a:t> </a:t>
            </a:r>
            <a:endParaRPr b="1" i="0" sz="6800" u="none" cap="none" strike="noStrike">
              <a:solidFill>
                <a:srgbClr val="3F3F3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6800"/>
              <a:buFont typeface="Arial"/>
              <a:buNone/>
            </a:pPr>
            <a:r>
              <a:t/>
            </a:r>
            <a:endParaRPr b="1" i="0" sz="6800" u="none" cap="none" strike="noStrike">
              <a:solidFill>
                <a:srgbClr val="3F3F3F"/>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600"/>
              <a:buFont typeface="Arial"/>
              <a:buNone/>
            </a:pPr>
            <a:r>
              <a:t/>
            </a:r>
            <a:endParaRPr b="0" i="0" sz="9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6000"/>
              <a:buFont typeface="Arial"/>
              <a:buNone/>
            </a:pPr>
            <a:r>
              <a:t/>
            </a:r>
            <a:endParaRPr b="0" i="0" sz="6000" u="none" cap="none" strike="noStrike">
              <a:solidFill>
                <a:schemeClr val="dk1"/>
              </a:solidFill>
              <a:latin typeface="Arial"/>
              <a:ea typeface="Arial"/>
              <a:cs typeface="Arial"/>
              <a:sym typeface="Arial"/>
            </a:endParaRPr>
          </a:p>
        </p:txBody>
      </p:sp>
      <p:sp>
        <p:nvSpPr>
          <p:cNvPr id="30" name="Google Shape;30;g2ee193558a9_0_58"/>
          <p:cNvSpPr txBox="1"/>
          <p:nvPr/>
        </p:nvSpPr>
        <p:spPr>
          <a:xfrm>
            <a:off x="786382" y="28073575"/>
            <a:ext cx="91440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5000" u="none" cap="none" strike="noStrike">
                <a:solidFill>
                  <a:schemeClr val="dk1"/>
                </a:solidFill>
                <a:latin typeface="Trebuchet MS"/>
                <a:ea typeface="Trebuchet MS"/>
                <a:cs typeface="Trebuchet MS"/>
                <a:sym typeface="Trebuchet MS"/>
              </a:rPr>
              <a:t>REFERENCES</a:t>
            </a:r>
            <a:endParaRPr b="1" i="0" sz="5000" u="none" cap="none" strike="noStrike">
              <a:solidFill>
                <a:schemeClr val="dk1"/>
              </a:solidFill>
              <a:latin typeface="Trebuchet MS"/>
              <a:ea typeface="Trebuchet MS"/>
              <a:cs typeface="Trebuchet MS"/>
              <a:sym typeface="Trebuchet MS"/>
            </a:endParaRPr>
          </a:p>
        </p:txBody>
      </p:sp>
      <p:sp>
        <p:nvSpPr>
          <p:cNvPr id="31" name="Google Shape;31;g2ee193558a9_0_58"/>
          <p:cNvSpPr txBox="1"/>
          <p:nvPr/>
        </p:nvSpPr>
        <p:spPr>
          <a:xfrm>
            <a:off x="32851907" y="11969838"/>
            <a:ext cx="91440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3F3F3F"/>
                </a:solidFill>
                <a:latin typeface="Trebuchet MS"/>
                <a:ea typeface="Trebuchet MS"/>
                <a:cs typeface="Trebuchet MS"/>
                <a:sym typeface="Trebuchet MS"/>
              </a:rPr>
              <a:t>LIMITATIONS</a:t>
            </a:r>
            <a:endParaRPr b="1" i="0" sz="6000" u="none" cap="none" strike="noStrike">
              <a:solidFill>
                <a:srgbClr val="000000"/>
              </a:solidFill>
              <a:latin typeface="Trebuchet MS"/>
              <a:ea typeface="Trebuchet MS"/>
              <a:cs typeface="Trebuchet MS"/>
              <a:sym typeface="Trebuchet MS"/>
            </a:endParaRPr>
          </a:p>
        </p:txBody>
      </p:sp>
      <p:sp>
        <p:nvSpPr>
          <p:cNvPr id="32" name="Google Shape;32;g2ee193558a9_0_58"/>
          <p:cNvSpPr txBox="1"/>
          <p:nvPr/>
        </p:nvSpPr>
        <p:spPr>
          <a:xfrm>
            <a:off x="11156157" y="19139275"/>
            <a:ext cx="91440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3F3F3F"/>
                </a:solidFill>
                <a:latin typeface="Trebuchet MS"/>
                <a:ea typeface="Trebuchet MS"/>
                <a:cs typeface="Trebuchet MS"/>
                <a:sym typeface="Trebuchet MS"/>
              </a:rPr>
              <a:t>RESULTS</a:t>
            </a:r>
            <a:endParaRPr b="1" i="0" sz="3800" u="none" cap="none" strike="noStrike">
              <a:solidFill>
                <a:srgbClr val="000000"/>
              </a:solidFill>
              <a:latin typeface="Trebuchet MS"/>
              <a:ea typeface="Trebuchet MS"/>
              <a:cs typeface="Trebuchet MS"/>
              <a:sym typeface="Trebuchet MS"/>
            </a:endParaRPr>
          </a:p>
        </p:txBody>
      </p:sp>
      <p:sp>
        <p:nvSpPr>
          <p:cNvPr id="33" name="Google Shape;33;g2ee193558a9_0_58"/>
          <p:cNvSpPr txBox="1"/>
          <p:nvPr/>
        </p:nvSpPr>
        <p:spPr>
          <a:xfrm>
            <a:off x="11095225" y="6082700"/>
            <a:ext cx="115266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3F3F3F"/>
                </a:solidFill>
                <a:latin typeface="Trebuchet MS"/>
                <a:ea typeface="Trebuchet MS"/>
                <a:cs typeface="Trebuchet MS"/>
                <a:sym typeface="Trebuchet MS"/>
              </a:rPr>
              <a:t>METHODS</a:t>
            </a:r>
            <a:endParaRPr b="1" i="0" sz="3800" u="none" cap="none" strike="noStrike">
              <a:solidFill>
                <a:srgbClr val="000000"/>
              </a:solidFill>
              <a:latin typeface="Trebuchet MS"/>
              <a:ea typeface="Trebuchet MS"/>
              <a:cs typeface="Trebuchet MS"/>
              <a:sym typeface="Trebuchet MS"/>
            </a:endParaRPr>
          </a:p>
        </p:txBody>
      </p:sp>
      <p:sp>
        <p:nvSpPr>
          <p:cNvPr id="34" name="Google Shape;34;g2ee193558a9_0_58"/>
          <p:cNvSpPr txBox="1"/>
          <p:nvPr/>
        </p:nvSpPr>
        <p:spPr>
          <a:xfrm>
            <a:off x="1107451" y="16512438"/>
            <a:ext cx="75774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3F3F3F"/>
                </a:solidFill>
                <a:latin typeface="Trebuchet MS"/>
                <a:ea typeface="Trebuchet MS"/>
                <a:cs typeface="Trebuchet MS"/>
                <a:sym typeface="Trebuchet MS"/>
              </a:rPr>
              <a:t>OBJECTIVES</a:t>
            </a:r>
            <a:endParaRPr b="1" i="0" sz="3800" u="none" cap="none" strike="noStrike">
              <a:solidFill>
                <a:srgbClr val="000000"/>
              </a:solidFill>
              <a:latin typeface="Trebuchet MS"/>
              <a:ea typeface="Trebuchet MS"/>
              <a:cs typeface="Trebuchet MS"/>
              <a:sym typeface="Trebuchet MS"/>
            </a:endParaRPr>
          </a:p>
        </p:txBody>
      </p:sp>
      <p:sp>
        <p:nvSpPr>
          <p:cNvPr id="35" name="Google Shape;35;g2ee193558a9_0_58"/>
          <p:cNvSpPr/>
          <p:nvPr/>
        </p:nvSpPr>
        <p:spPr>
          <a:xfrm>
            <a:off x="1057675" y="17680925"/>
            <a:ext cx="8771100" cy="3303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US" sz="3200" u="none" cap="none" strike="noStrike">
                <a:solidFill>
                  <a:schemeClr val="dk1"/>
                </a:solidFill>
                <a:latin typeface="Arial"/>
                <a:ea typeface="Arial"/>
                <a:cs typeface="Arial"/>
                <a:sym typeface="Arial"/>
              </a:rPr>
              <a:t>Compare BP and FA on MNIST in terms of:</a:t>
            </a:r>
            <a:endParaRPr b="1" i="0" sz="3200" u="none" cap="none" strike="noStrike">
              <a:solidFill>
                <a:schemeClr val="dk1"/>
              </a:solidFill>
              <a:latin typeface="Arial"/>
              <a:ea typeface="Arial"/>
              <a:cs typeface="Arial"/>
              <a:sym typeface="Arial"/>
            </a:endParaRPr>
          </a:p>
          <a:p>
            <a:pPr indent="-406400" lvl="0" marL="457200" marR="0" rtl="0" algn="l">
              <a:lnSpc>
                <a:spcPct val="115000"/>
              </a:lnSpc>
              <a:spcBef>
                <a:spcPts val="1200"/>
              </a:spcBef>
              <a:spcAft>
                <a:spcPts val="0"/>
              </a:spcAft>
              <a:buClr>
                <a:schemeClr val="dk1"/>
              </a:buClr>
              <a:buSzPts val="3200"/>
              <a:buFont typeface="Arial"/>
              <a:buChar char="●"/>
            </a:pPr>
            <a:r>
              <a:rPr b="1" i="0" lang="en-US" sz="3200" u="none" cap="none" strike="noStrike">
                <a:solidFill>
                  <a:schemeClr val="dk1"/>
                </a:solidFill>
                <a:latin typeface="Arial"/>
                <a:ea typeface="Arial"/>
                <a:cs typeface="Arial"/>
                <a:sym typeface="Arial"/>
              </a:rPr>
              <a:t>Convergence speed</a:t>
            </a:r>
            <a:r>
              <a:rPr lang="en-US" sz="3200">
                <a:solidFill>
                  <a:schemeClr val="dk1"/>
                </a:solidFill>
              </a:rPr>
              <a:t> </a:t>
            </a:r>
            <a:r>
              <a:rPr b="0" i="0" lang="en-US" sz="3200" u="none" cap="none" strike="noStrike">
                <a:solidFill>
                  <a:schemeClr val="dk1"/>
                </a:solidFill>
                <a:latin typeface="Arial"/>
                <a:ea typeface="Arial"/>
                <a:cs typeface="Arial"/>
                <a:sym typeface="Arial"/>
              </a:rPr>
              <a:t>and </a:t>
            </a:r>
            <a:r>
              <a:rPr b="1" i="0" lang="en-US" sz="3200" u="none" cap="none" strike="noStrike">
                <a:solidFill>
                  <a:schemeClr val="dk1"/>
                </a:solidFill>
                <a:latin typeface="Arial"/>
                <a:ea typeface="Arial"/>
                <a:cs typeface="Arial"/>
                <a:sym typeface="Arial"/>
              </a:rPr>
              <a:t>final accuracy</a:t>
            </a:r>
            <a:endParaRPr b="1" i="0" sz="3200" u="none" cap="none" strike="noStrike">
              <a:solidFill>
                <a:schemeClr val="dk1"/>
              </a:solidFill>
              <a:latin typeface="Arial"/>
              <a:ea typeface="Arial"/>
              <a:cs typeface="Arial"/>
              <a:sym typeface="Arial"/>
            </a:endParaRPr>
          </a:p>
          <a:p>
            <a:pPr indent="-406400" lvl="0" marL="457200" marR="0" rtl="0" algn="l">
              <a:lnSpc>
                <a:spcPct val="115000"/>
              </a:lnSpc>
              <a:spcBef>
                <a:spcPts val="0"/>
              </a:spcBef>
              <a:spcAft>
                <a:spcPts val="0"/>
              </a:spcAft>
              <a:buClr>
                <a:schemeClr val="dk1"/>
              </a:buClr>
              <a:buSzPts val="3200"/>
              <a:buFont typeface="Arial"/>
              <a:buChar char="●"/>
            </a:pPr>
            <a:r>
              <a:rPr b="1" i="0" lang="en-US" sz="3200" u="none" cap="none" strike="noStrike">
                <a:solidFill>
                  <a:schemeClr val="dk1"/>
                </a:solidFill>
                <a:latin typeface="Arial"/>
                <a:ea typeface="Arial"/>
                <a:cs typeface="Arial"/>
                <a:sym typeface="Arial"/>
              </a:rPr>
              <a:t>Robustness</a:t>
            </a:r>
            <a:r>
              <a:rPr b="0" i="0" lang="en-US" sz="3200" u="none" cap="none" strike="noStrike">
                <a:solidFill>
                  <a:schemeClr val="dk1"/>
                </a:solidFill>
                <a:latin typeface="Arial"/>
                <a:ea typeface="Arial"/>
                <a:cs typeface="Arial"/>
                <a:sym typeface="Arial"/>
              </a:rPr>
              <a:t> under input noise (Gaussian, salt-and-pepper)</a:t>
            </a:r>
            <a:endParaRPr b="0" i="0" sz="3200" u="none" cap="none" strike="noStrike">
              <a:solidFill>
                <a:schemeClr val="dk1"/>
              </a:solidFill>
              <a:latin typeface="Trebuchet MS"/>
              <a:ea typeface="Trebuchet MS"/>
              <a:cs typeface="Trebuchet MS"/>
              <a:sym typeface="Trebuchet MS"/>
            </a:endParaRPr>
          </a:p>
        </p:txBody>
      </p:sp>
      <p:sp>
        <p:nvSpPr>
          <p:cNvPr id="36" name="Google Shape;36;g2ee193558a9_0_58"/>
          <p:cNvSpPr/>
          <p:nvPr/>
        </p:nvSpPr>
        <p:spPr>
          <a:xfrm>
            <a:off x="1135075" y="21412700"/>
            <a:ext cx="8693700" cy="3158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US" sz="3200" u="none" cap="none" strike="noStrike">
                <a:solidFill>
                  <a:schemeClr val="dk1"/>
                </a:solidFill>
                <a:latin typeface="Arial"/>
                <a:ea typeface="Arial"/>
                <a:cs typeface="Arial"/>
                <a:sym typeface="Arial"/>
              </a:rPr>
              <a:t>Analyze learning signals:</a:t>
            </a:r>
            <a:endParaRPr b="0" i="0" sz="3200" u="none" cap="none" strike="noStrike">
              <a:solidFill>
                <a:schemeClr val="dk1"/>
              </a:solidFill>
              <a:latin typeface="Arial"/>
              <a:ea typeface="Arial"/>
              <a:cs typeface="Arial"/>
              <a:sym typeface="Arial"/>
            </a:endParaRPr>
          </a:p>
          <a:p>
            <a:pPr indent="-406400" lvl="0" marL="457200" marR="0" rtl="0" algn="l">
              <a:lnSpc>
                <a:spcPct val="115000"/>
              </a:lnSpc>
              <a:spcBef>
                <a:spcPts val="1200"/>
              </a:spcBef>
              <a:spcAft>
                <a:spcPts val="0"/>
              </a:spcAft>
              <a:buClr>
                <a:schemeClr val="dk1"/>
              </a:buClr>
              <a:buSzPts val="3200"/>
              <a:buFont typeface="Arial"/>
              <a:buChar char="●"/>
            </a:pPr>
            <a:r>
              <a:rPr b="1" i="0" lang="en-US" sz="3200" u="none" cap="none" strike="noStrike">
                <a:solidFill>
                  <a:schemeClr val="dk1"/>
                </a:solidFill>
                <a:latin typeface="Arial"/>
                <a:ea typeface="Arial"/>
                <a:cs typeface="Arial"/>
                <a:sym typeface="Arial"/>
              </a:rPr>
              <a:t>Update alignment &amp; </a:t>
            </a:r>
            <a:r>
              <a:rPr b="1" lang="en-US" sz="3200">
                <a:solidFill>
                  <a:schemeClr val="dk1"/>
                </a:solidFill>
              </a:rPr>
              <a:t>Bias</a:t>
            </a:r>
            <a:r>
              <a:rPr b="0" i="0" lang="en-US" sz="3200" u="none" cap="none" strike="noStrike">
                <a:solidFill>
                  <a:schemeClr val="dk1"/>
                </a:solidFill>
                <a:latin typeface="Arial"/>
                <a:ea typeface="Arial"/>
                <a:cs typeface="Arial"/>
                <a:sym typeface="Arial"/>
              </a:rPr>
              <a:t> (cosine similarity)</a:t>
            </a:r>
            <a:endParaRPr b="0" i="0" sz="3200" u="none" cap="none" strike="noStrike">
              <a:solidFill>
                <a:schemeClr val="dk1"/>
              </a:solidFill>
              <a:latin typeface="Arial"/>
              <a:ea typeface="Arial"/>
              <a:cs typeface="Arial"/>
              <a:sym typeface="Arial"/>
            </a:endParaRPr>
          </a:p>
          <a:p>
            <a:pPr indent="-406400" lvl="0" marL="457200" marR="0" rtl="0" algn="l">
              <a:lnSpc>
                <a:spcPct val="115000"/>
              </a:lnSpc>
              <a:spcBef>
                <a:spcPts val="0"/>
              </a:spcBef>
              <a:spcAft>
                <a:spcPts val="0"/>
              </a:spcAft>
              <a:buClr>
                <a:schemeClr val="dk1"/>
              </a:buClr>
              <a:buSzPts val="3200"/>
              <a:buFont typeface="Arial"/>
              <a:buChar char="●"/>
            </a:pPr>
            <a:r>
              <a:rPr b="1" lang="en-US" sz="3200">
                <a:solidFill>
                  <a:schemeClr val="dk1"/>
                </a:solidFill>
              </a:rPr>
              <a:t>V</a:t>
            </a:r>
            <a:r>
              <a:rPr b="1" i="0" lang="en-US" sz="3200" u="none" cap="none" strike="noStrike">
                <a:solidFill>
                  <a:schemeClr val="dk1"/>
                </a:solidFill>
                <a:latin typeface="Arial"/>
                <a:ea typeface="Arial"/>
                <a:cs typeface="Arial"/>
                <a:sym typeface="Arial"/>
              </a:rPr>
              <a:t>ariance</a:t>
            </a:r>
            <a:r>
              <a:rPr b="0" i="0" lang="en-US" sz="3200" u="none" cap="none" strike="noStrike">
                <a:solidFill>
                  <a:schemeClr val="dk1"/>
                </a:solidFill>
                <a:latin typeface="Arial"/>
                <a:ea typeface="Arial"/>
                <a:cs typeface="Arial"/>
                <a:sym typeface="Arial"/>
              </a:rPr>
              <a:t> </a:t>
            </a:r>
            <a:r>
              <a:rPr b="1" i="0" lang="en-US" sz="3200" u="none" cap="none" strike="noStrike">
                <a:solidFill>
                  <a:schemeClr val="dk1"/>
                </a:solidFill>
                <a:latin typeface="Arial"/>
                <a:ea typeface="Arial"/>
                <a:cs typeface="Arial"/>
                <a:sym typeface="Arial"/>
              </a:rPr>
              <a:t>(signal-to-noise ratio (SNR))</a:t>
            </a:r>
            <a:endParaRPr b="0" i="0" sz="3200" u="none" cap="none" strike="noStrike">
              <a:solidFill>
                <a:schemeClr val="dk1"/>
              </a:solidFill>
              <a:latin typeface="Trebuchet MS"/>
              <a:ea typeface="Trebuchet MS"/>
              <a:cs typeface="Trebuchet MS"/>
              <a:sym typeface="Trebuchet MS"/>
            </a:endParaRPr>
          </a:p>
        </p:txBody>
      </p:sp>
      <p:sp>
        <p:nvSpPr>
          <p:cNvPr id="37" name="Google Shape;37;g2ee193558a9_0_58"/>
          <p:cNvSpPr/>
          <p:nvPr/>
        </p:nvSpPr>
        <p:spPr>
          <a:xfrm>
            <a:off x="1135075" y="24999575"/>
            <a:ext cx="8693700" cy="2330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n-US" sz="3200" u="none" cap="none" strike="noStrike">
                <a:solidFill>
                  <a:schemeClr val="dk1"/>
                </a:solidFill>
                <a:latin typeface="Arial"/>
                <a:ea typeface="Arial"/>
                <a:cs typeface="Arial"/>
                <a:sym typeface="Arial"/>
              </a:rPr>
              <a:t>Understand how closely FA approximates </a:t>
            </a:r>
            <a:r>
              <a:rPr b="1" i="0" lang="en-US" sz="3200" u="none" cap="none" strike="noStrike">
                <a:solidFill>
                  <a:schemeClr val="dk1"/>
                </a:solidFill>
                <a:latin typeface="Arial"/>
                <a:ea typeface="Arial"/>
                <a:cs typeface="Arial"/>
                <a:sym typeface="Arial"/>
              </a:rPr>
              <a:t>gradient descent</a:t>
            </a:r>
            <a:r>
              <a:rPr b="0" i="0" lang="en-US" sz="3200" u="none" cap="none" strike="noStrike">
                <a:solidFill>
                  <a:schemeClr val="dk1"/>
                </a:solidFill>
                <a:latin typeface="Arial"/>
                <a:ea typeface="Arial"/>
                <a:cs typeface="Arial"/>
                <a:sym typeface="Arial"/>
              </a:rPr>
              <a:t> and internal representations compared to BP.</a:t>
            </a:r>
            <a:endParaRPr b="1" i="0" sz="3200" u="none" cap="none" strike="noStrike">
              <a:solidFill>
                <a:srgbClr val="000000"/>
              </a:solidFill>
              <a:latin typeface="Arial"/>
              <a:ea typeface="Arial"/>
              <a:cs typeface="Arial"/>
              <a:sym typeface="Arial"/>
            </a:endParaRPr>
          </a:p>
        </p:txBody>
      </p:sp>
      <p:sp>
        <p:nvSpPr>
          <p:cNvPr id="38" name="Google Shape;38;g2ee193558a9_0_58"/>
          <p:cNvSpPr txBox="1"/>
          <p:nvPr/>
        </p:nvSpPr>
        <p:spPr>
          <a:xfrm>
            <a:off x="32746875" y="13232250"/>
            <a:ext cx="10009800" cy="4941000"/>
          </a:xfrm>
          <a:prstGeom prst="rect">
            <a:avLst/>
          </a:prstGeom>
          <a:noFill/>
          <a:ln>
            <a:noFill/>
          </a:ln>
        </p:spPr>
        <p:txBody>
          <a:bodyPr anchorCtr="0" anchor="t" bIns="45700" lIns="91425" spcFirstLastPara="1" rIns="91425" wrap="square" tIns="45700">
            <a:spAutoFit/>
          </a:bodyPr>
          <a:lstStyle/>
          <a:p>
            <a:pPr indent="-425450" lvl="0" marL="457200" marR="0" rtl="0" algn="l">
              <a:lnSpc>
                <a:spcPct val="100000"/>
              </a:lnSpc>
              <a:spcBef>
                <a:spcPts val="0"/>
              </a:spcBef>
              <a:spcAft>
                <a:spcPts val="0"/>
              </a:spcAft>
              <a:buClr>
                <a:srgbClr val="3F3F3F"/>
              </a:buClr>
              <a:buSzPts val="3500"/>
              <a:buFont typeface="Trebuchet MS"/>
              <a:buChar char="●"/>
            </a:pPr>
            <a:r>
              <a:rPr b="1" i="0" lang="en-US" sz="3500" u="none" cap="none" strike="noStrike">
                <a:solidFill>
                  <a:schemeClr val="dk1"/>
                </a:solidFill>
                <a:latin typeface="Arial"/>
                <a:ea typeface="Arial"/>
                <a:cs typeface="Arial"/>
                <a:sym typeface="Arial"/>
              </a:rPr>
              <a:t>FA requires more tuning</a:t>
            </a:r>
            <a:r>
              <a:rPr b="0" i="0" lang="en-US" sz="3500" u="none" cap="none" strike="noStrike">
                <a:solidFill>
                  <a:schemeClr val="dk1"/>
                </a:solidFill>
                <a:latin typeface="Arial"/>
                <a:ea typeface="Arial"/>
                <a:cs typeface="Arial"/>
                <a:sym typeface="Arial"/>
              </a:rPr>
              <a:t> and converges slower than </a:t>
            </a:r>
            <a:r>
              <a:rPr b="1" i="0" lang="en-US" sz="3500" u="none" cap="none" strike="noStrike">
                <a:solidFill>
                  <a:schemeClr val="dk1"/>
                </a:solidFill>
                <a:latin typeface="Arial"/>
                <a:ea typeface="Arial"/>
                <a:cs typeface="Arial"/>
                <a:sym typeface="Arial"/>
              </a:rPr>
              <a:t>BP</a:t>
            </a:r>
            <a:r>
              <a:rPr b="0" i="0" lang="en-US" sz="3500" u="none" cap="none" strike="noStrike">
                <a:solidFill>
                  <a:schemeClr val="dk1"/>
                </a:solidFill>
                <a:latin typeface="Arial"/>
                <a:ea typeface="Arial"/>
                <a:cs typeface="Arial"/>
                <a:sym typeface="Arial"/>
              </a:rPr>
              <a:t>, with noisier and less stable updates in early training.</a:t>
            </a:r>
            <a:endParaRPr sz="3500">
              <a:solidFill>
                <a:schemeClr val="dk1"/>
              </a:solidFill>
            </a:endParaRPr>
          </a:p>
          <a:p>
            <a:pPr indent="-425450" lvl="0" marL="457200" marR="0" rtl="0" algn="l">
              <a:lnSpc>
                <a:spcPct val="100000"/>
              </a:lnSpc>
              <a:spcBef>
                <a:spcPts val="0"/>
              </a:spcBef>
              <a:spcAft>
                <a:spcPts val="0"/>
              </a:spcAft>
              <a:buClr>
                <a:srgbClr val="3F3F3F"/>
              </a:buClr>
              <a:buSzPts val="3500"/>
              <a:buFont typeface="Trebuchet MS"/>
              <a:buChar char="●"/>
            </a:pPr>
            <a:r>
              <a:rPr b="1" i="0" lang="en-US" sz="3500" u="none" cap="none" strike="noStrike">
                <a:solidFill>
                  <a:schemeClr val="dk1"/>
                </a:solidFill>
                <a:latin typeface="Arial"/>
                <a:ea typeface="Arial"/>
                <a:cs typeface="Arial"/>
                <a:sym typeface="Arial"/>
              </a:rPr>
              <a:t>Limited training time </a:t>
            </a:r>
            <a:r>
              <a:rPr b="0" i="0" lang="en-US" sz="3500" u="none" cap="none" strike="noStrike">
                <a:solidFill>
                  <a:schemeClr val="dk1"/>
                </a:solidFill>
                <a:latin typeface="Arial"/>
                <a:ea typeface="Arial"/>
                <a:cs typeface="Arial"/>
                <a:sym typeface="Arial"/>
              </a:rPr>
              <a:t>and </a:t>
            </a:r>
            <a:r>
              <a:rPr b="1" i="0" lang="en-US" sz="3500" u="none" cap="none" strike="noStrike">
                <a:solidFill>
                  <a:schemeClr val="dk1"/>
                </a:solidFill>
                <a:latin typeface="Arial"/>
                <a:ea typeface="Arial"/>
                <a:cs typeface="Arial"/>
                <a:sym typeface="Arial"/>
              </a:rPr>
              <a:t>computational constraints</a:t>
            </a:r>
            <a:r>
              <a:rPr b="0" i="0" lang="en-US" sz="3500" u="none" cap="none" strike="noStrike">
                <a:solidFill>
                  <a:schemeClr val="dk1"/>
                </a:solidFill>
                <a:latin typeface="Arial"/>
                <a:ea typeface="Arial"/>
                <a:cs typeface="Arial"/>
                <a:sym typeface="Arial"/>
              </a:rPr>
              <a:t> restricted deeper architectures and simultaneous hyperparameter exploration.</a:t>
            </a:r>
            <a:endParaRPr sz="3500">
              <a:solidFill>
                <a:schemeClr val="dk1"/>
              </a:solidFill>
            </a:endParaRPr>
          </a:p>
          <a:p>
            <a:pPr indent="-425450" lvl="0" marL="457200" marR="0" rtl="0" algn="l">
              <a:lnSpc>
                <a:spcPct val="100000"/>
              </a:lnSpc>
              <a:spcBef>
                <a:spcPts val="0"/>
              </a:spcBef>
              <a:spcAft>
                <a:spcPts val="0"/>
              </a:spcAft>
              <a:buClr>
                <a:srgbClr val="3F3F3F"/>
              </a:buClr>
              <a:buSzPts val="3500"/>
              <a:buFont typeface="Trebuchet MS"/>
              <a:buChar char="●"/>
            </a:pPr>
            <a:r>
              <a:rPr b="1" i="0" lang="en-US" sz="3500" u="none" cap="none" strike="noStrike">
                <a:solidFill>
                  <a:schemeClr val="dk1"/>
                </a:solidFill>
                <a:latin typeface="Arial"/>
                <a:ea typeface="Arial"/>
                <a:cs typeface="Arial"/>
                <a:sym typeface="Arial"/>
              </a:rPr>
              <a:t>FA is more </a:t>
            </a:r>
            <a:r>
              <a:rPr b="1" lang="en-US" sz="3500">
                <a:solidFill>
                  <a:schemeClr val="dk1"/>
                </a:solidFill>
              </a:rPr>
              <a:t>robust </a:t>
            </a:r>
            <a:r>
              <a:rPr b="1" i="0" lang="en-US" sz="3500" u="none" cap="none" strike="noStrike">
                <a:solidFill>
                  <a:schemeClr val="dk1"/>
                </a:solidFill>
                <a:latin typeface="Arial"/>
                <a:ea typeface="Arial"/>
                <a:cs typeface="Arial"/>
                <a:sym typeface="Arial"/>
              </a:rPr>
              <a:t>to input noise</a:t>
            </a:r>
            <a:r>
              <a:rPr b="0" i="0" lang="en-US" sz="3500" u="none" cap="none" strike="noStrike">
                <a:solidFill>
                  <a:schemeClr val="dk1"/>
                </a:solidFill>
                <a:latin typeface="Arial"/>
                <a:ea typeface="Arial"/>
                <a:cs typeface="Arial"/>
                <a:sym typeface="Arial"/>
              </a:rPr>
              <a:t> and showed lower gradient alignment with BP, especially during early stages of learning.</a:t>
            </a:r>
            <a:endParaRPr b="1" i="0" sz="3500" u="none" cap="none" strike="noStrike">
              <a:solidFill>
                <a:schemeClr val="dk1"/>
              </a:solidFill>
              <a:latin typeface="Arial"/>
              <a:ea typeface="Arial"/>
              <a:cs typeface="Arial"/>
              <a:sym typeface="Arial"/>
            </a:endParaRPr>
          </a:p>
        </p:txBody>
      </p:sp>
      <p:sp>
        <p:nvSpPr>
          <p:cNvPr id="39" name="Google Shape;39;g2ee193558a9_0_58"/>
          <p:cNvSpPr txBox="1"/>
          <p:nvPr/>
        </p:nvSpPr>
        <p:spPr>
          <a:xfrm>
            <a:off x="577725" y="29049800"/>
            <a:ext cx="9561300" cy="3761100"/>
          </a:xfrm>
          <a:prstGeom prst="rect">
            <a:avLst/>
          </a:prstGeom>
          <a:noFill/>
          <a:ln>
            <a:noFill/>
          </a:ln>
        </p:spPr>
        <p:txBody>
          <a:bodyPr anchorCtr="0" anchor="t" bIns="45700" lIns="91425" spcFirstLastPara="1" rIns="91425" wrap="square" tIns="45700">
            <a:spAutoFit/>
          </a:bodyPr>
          <a:lstStyle/>
          <a:p>
            <a:pPr indent="-361950" lvl="0" marL="457200" rtl="0" algn="just">
              <a:lnSpc>
                <a:spcPct val="115000"/>
              </a:lnSpc>
              <a:spcBef>
                <a:spcPts val="1200"/>
              </a:spcBef>
              <a:spcAft>
                <a:spcPts val="0"/>
              </a:spcAft>
              <a:buClr>
                <a:schemeClr val="dk1"/>
              </a:buClr>
              <a:buSzPts val="2100"/>
              <a:buChar char="●"/>
            </a:pPr>
            <a:r>
              <a:rPr lang="en-US" sz="2100">
                <a:solidFill>
                  <a:schemeClr val="dk1"/>
                </a:solidFill>
                <a:latin typeface="Times New Roman"/>
                <a:ea typeface="Times New Roman"/>
                <a:cs typeface="Times New Roman"/>
                <a:sym typeface="Times New Roman"/>
              </a:rPr>
              <a:t>[1] Konishi &amp; Miura (2024). Biologically Plausible CNNs and Autoencoders with Feedback Alignment.</a:t>
            </a:r>
            <a:endParaRPr sz="2100">
              <a:solidFill>
                <a:schemeClr val="dk1"/>
              </a:solidFill>
              <a:latin typeface="Times New Roman"/>
              <a:ea typeface="Times New Roman"/>
              <a:cs typeface="Times New Roman"/>
              <a:sym typeface="Times New Roman"/>
            </a:endParaRPr>
          </a:p>
          <a:p>
            <a:pPr indent="-361950" lvl="0" marL="457200" rtl="0" algn="just">
              <a:lnSpc>
                <a:spcPct val="115000"/>
              </a:lnSpc>
              <a:spcBef>
                <a:spcPts val="0"/>
              </a:spcBef>
              <a:spcAft>
                <a:spcPts val="0"/>
              </a:spcAft>
              <a:buClr>
                <a:schemeClr val="dk1"/>
              </a:buClr>
              <a:buSzPts val="2100"/>
              <a:buChar char="●"/>
            </a:pPr>
            <a:r>
              <a:rPr lang="en-US" sz="2100">
                <a:solidFill>
                  <a:schemeClr val="dk1"/>
                </a:solidFill>
                <a:latin typeface="Times New Roman"/>
                <a:ea typeface="Times New Roman"/>
                <a:cs typeface="Times New Roman"/>
                <a:sym typeface="Times New Roman"/>
              </a:rPr>
              <a:t>[2] Li &amp; Benna (2024). Deep Learning without Weight Symmetry (Product Feedback Alignment).</a:t>
            </a:r>
            <a:endParaRPr sz="2100">
              <a:solidFill>
                <a:schemeClr val="dk1"/>
              </a:solidFill>
              <a:latin typeface="Times New Roman"/>
              <a:ea typeface="Times New Roman"/>
              <a:cs typeface="Times New Roman"/>
              <a:sym typeface="Times New Roman"/>
            </a:endParaRPr>
          </a:p>
          <a:p>
            <a:pPr indent="-361950" lvl="0" marL="457200" rtl="0" algn="just">
              <a:lnSpc>
                <a:spcPct val="115000"/>
              </a:lnSpc>
              <a:spcBef>
                <a:spcPts val="0"/>
              </a:spcBef>
              <a:spcAft>
                <a:spcPts val="0"/>
              </a:spcAft>
              <a:buClr>
                <a:schemeClr val="dk1"/>
              </a:buClr>
              <a:buSzPts val="2100"/>
              <a:buChar char="●"/>
            </a:pPr>
            <a:r>
              <a:rPr lang="en-US" sz="2100">
                <a:solidFill>
                  <a:schemeClr val="dk1"/>
                </a:solidFill>
                <a:latin typeface="Times New Roman"/>
                <a:ea typeface="Times New Roman"/>
                <a:cs typeface="Times New Roman"/>
                <a:sym typeface="Times New Roman"/>
              </a:rPr>
              <a:t>[3] Bacho &amp; Chu (2024). Low-Variance Forward Gradients using Direct Feedback Alignment.</a:t>
            </a:r>
            <a:endParaRPr sz="2100">
              <a:solidFill>
                <a:schemeClr val="dk1"/>
              </a:solidFill>
              <a:latin typeface="Times New Roman"/>
              <a:ea typeface="Times New Roman"/>
              <a:cs typeface="Times New Roman"/>
              <a:sym typeface="Times New Roman"/>
            </a:endParaRPr>
          </a:p>
          <a:p>
            <a:pPr indent="-361950" lvl="0" marL="457200" rtl="0" algn="just">
              <a:lnSpc>
                <a:spcPct val="115000"/>
              </a:lnSpc>
              <a:spcBef>
                <a:spcPts val="0"/>
              </a:spcBef>
              <a:spcAft>
                <a:spcPts val="0"/>
              </a:spcAft>
              <a:buClr>
                <a:schemeClr val="dk1"/>
              </a:buClr>
              <a:buSzPts val="2100"/>
              <a:buChar char="●"/>
            </a:pPr>
            <a:r>
              <a:rPr lang="en-US" sz="2100">
                <a:solidFill>
                  <a:schemeClr val="dk1"/>
                </a:solidFill>
                <a:latin typeface="Times New Roman"/>
                <a:ea typeface="Times New Roman"/>
                <a:cs typeface="Times New Roman"/>
                <a:sym typeface="Times New Roman"/>
              </a:rPr>
              <a:t>[4] Nakajima et al. (2024). Reservoir Direct Feedback Alignment: Deep Learning by Physical Dynamics.</a:t>
            </a:r>
            <a:endParaRPr sz="2100">
              <a:solidFill>
                <a:schemeClr val="dk1"/>
              </a:solidFill>
              <a:latin typeface="Times New Roman"/>
              <a:ea typeface="Times New Roman"/>
              <a:cs typeface="Times New Roman"/>
              <a:sym typeface="Times New Roman"/>
            </a:endParaRPr>
          </a:p>
          <a:p>
            <a:pPr indent="-361950" lvl="0" marL="457200" rtl="0" algn="just">
              <a:lnSpc>
                <a:spcPct val="115000"/>
              </a:lnSpc>
              <a:spcBef>
                <a:spcPts val="0"/>
              </a:spcBef>
              <a:spcAft>
                <a:spcPts val="0"/>
              </a:spcAft>
              <a:buClr>
                <a:schemeClr val="dk1"/>
              </a:buClr>
              <a:buSzPts val="2100"/>
              <a:buChar char="●"/>
            </a:pPr>
            <a:r>
              <a:rPr lang="en-US" sz="2100">
                <a:solidFill>
                  <a:schemeClr val="dk1"/>
                </a:solidFill>
                <a:latin typeface="Times New Roman"/>
                <a:ea typeface="Times New Roman"/>
                <a:cs typeface="Times New Roman"/>
                <a:sym typeface="Times New Roman"/>
              </a:rPr>
              <a:t>[5] Nayebi et al. (2020). Identifying learning rules from activity and weight statistics in biological systems.</a:t>
            </a:r>
            <a:endParaRPr sz="2100">
              <a:solidFill>
                <a:schemeClr val="dk1"/>
              </a:solidFill>
            </a:endParaRPr>
          </a:p>
        </p:txBody>
      </p:sp>
      <p:sp>
        <p:nvSpPr>
          <p:cNvPr id="40" name="Google Shape;40;g2ee193558a9_0_58"/>
          <p:cNvSpPr txBox="1"/>
          <p:nvPr/>
        </p:nvSpPr>
        <p:spPr>
          <a:xfrm>
            <a:off x="32719875" y="7157375"/>
            <a:ext cx="10009800" cy="45252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0"/>
              </a:spcBef>
              <a:spcAft>
                <a:spcPts val="0"/>
              </a:spcAft>
              <a:buClr>
                <a:srgbClr val="000000"/>
              </a:buClr>
              <a:buSzPts val="3800"/>
              <a:buFont typeface="Arial"/>
              <a:buNone/>
            </a:pPr>
            <a:r>
              <a:rPr b="0" i="0" lang="en-US" sz="3600" u="none" cap="none" strike="noStrike">
                <a:solidFill>
                  <a:schemeClr val="dk1"/>
                </a:solidFill>
                <a:latin typeface="Arial"/>
                <a:ea typeface="Arial"/>
                <a:cs typeface="Arial"/>
                <a:sym typeface="Arial"/>
              </a:rPr>
              <a:t>FA shows competitive performance and increasing similarity to BP in wider networks. While BP learns faster and more stably, FA scales well and approximates similar internal representations. We've already explored robustness to noise, update alignment, and architectural changes. Ongoing work includes deeper models and extended training.</a:t>
            </a:r>
            <a:endParaRPr b="0" i="0" sz="3600" u="none" cap="none" strike="noStrike">
              <a:solidFill>
                <a:srgbClr val="3F3F3F"/>
              </a:solidFill>
              <a:latin typeface="Trebuchet MS"/>
              <a:ea typeface="Trebuchet MS"/>
              <a:cs typeface="Trebuchet MS"/>
              <a:sym typeface="Trebuchet MS"/>
            </a:endParaRPr>
          </a:p>
        </p:txBody>
      </p:sp>
      <p:sp>
        <p:nvSpPr>
          <p:cNvPr id="41" name="Google Shape;41;g2ee193558a9_0_58"/>
          <p:cNvSpPr txBox="1"/>
          <p:nvPr/>
        </p:nvSpPr>
        <p:spPr>
          <a:xfrm>
            <a:off x="1107450" y="7157375"/>
            <a:ext cx="8616300" cy="82866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1200"/>
              </a:spcBef>
              <a:spcAft>
                <a:spcPts val="1200"/>
              </a:spcAft>
              <a:buClr>
                <a:srgbClr val="000000"/>
              </a:buClr>
              <a:buSzPts val="4000"/>
              <a:buFont typeface="Arial"/>
              <a:buNone/>
            </a:pPr>
            <a:r>
              <a:rPr b="0" i="0" lang="en-US" sz="3900" u="none" cap="none" strike="noStrike">
                <a:solidFill>
                  <a:srgbClr val="3F3F3F"/>
                </a:solidFill>
                <a:latin typeface="Trebuchet MS"/>
                <a:ea typeface="Trebuchet MS"/>
                <a:cs typeface="Trebuchet MS"/>
                <a:sym typeface="Trebuchet MS"/>
              </a:rPr>
              <a:t>Backpropagation (BP) is the standard method for training deep neural networks, but its reliance on exact gradient feedback makes it biologically implausible. Feedback Alignment (FA) offers a more realistic alternative by using fixed random feedback weights. This project investigates how well FA can approximate BP in terms of performance, learning dynamics, and robustness.</a:t>
            </a:r>
            <a:endParaRPr b="0" i="0" sz="3900" u="none" cap="none" strike="noStrike">
              <a:solidFill>
                <a:srgbClr val="3F3F3F"/>
              </a:solidFill>
              <a:latin typeface="Trebuchet MS"/>
              <a:ea typeface="Trebuchet MS"/>
              <a:cs typeface="Trebuchet MS"/>
              <a:sym typeface="Trebuchet MS"/>
            </a:endParaRPr>
          </a:p>
        </p:txBody>
      </p:sp>
      <p:pic>
        <p:nvPicPr>
          <p:cNvPr id="42" name="Google Shape;42;g2ee193558a9_0_58"/>
          <p:cNvPicPr preferRelativeResize="0"/>
          <p:nvPr/>
        </p:nvPicPr>
        <p:blipFill rotWithShape="1">
          <a:blip r:embed="rId3">
            <a:alphaModFix/>
          </a:blip>
          <a:srcRect b="0" l="0" r="32226" t="0"/>
          <a:stretch/>
        </p:blipFill>
        <p:spPr>
          <a:xfrm>
            <a:off x="575550" y="560575"/>
            <a:ext cx="2666998" cy="2667000"/>
          </a:xfrm>
          <a:prstGeom prst="rect">
            <a:avLst/>
          </a:prstGeom>
          <a:noFill/>
          <a:ln>
            <a:noFill/>
          </a:ln>
        </p:spPr>
      </p:pic>
      <p:pic>
        <p:nvPicPr>
          <p:cNvPr id="43" name="Google Shape;43;g2ee193558a9_0_58"/>
          <p:cNvPicPr preferRelativeResize="0"/>
          <p:nvPr/>
        </p:nvPicPr>
        <p:blipFill>
          <a:blip r:embed="rId4">
            <a:alphaModFix/>
          </a:blip>
          <a:stretch>
            <a:fillRect/>
          </a:stretch>
        </p:blipFill>
        <p:spPr>
          <a:xfrm>
            <a:off x="12171600" y="9272825"/>
            <a:ext cx="2092500" cy="2092500"/>
          </a:xfrm>
          <a:prstGeom prst="rect">
            <a:avLst/>
          </a:prstGeom>
          <a:noFill/>
          <a:ln>
            <a:noFill/>
          </a:ln>
        </p:spPr>
      </p:pic>
      <p:sp>
        <p:nvSpPr>
          <p:cNvPr id="44" name="Google Shape;44;g2ee193558a9_0_58"/>
          <p:cNvSpPr/>
          <p:nvPr/>
        </p:nvSpPr>
        <p:spPr>
          <a:xfrm>
            <a:off x="12007425" y="7872150"/>
            <a:ext cx="2568600" cy="1066800"/>
          </a:xfrm>
          <a:prstGeom prst="flowChartAlternateProcess">
            <a:avLst/>
          </a:prstGeom>
          <a:solidFill>
            <a:schemeClr val="lt2"/>
          </a:solidFill>
          <a:ln cap="flat" cmpd="sng" w="952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t>input</a:t>
            </a:r>
            <a:endParaRPr b="1" sz="3600"/>
          </a:p>
        </p:txBody>
      </p:sp>
      <p:sp>
        <p:nvSpPr>
          <p:cNvPr id="45" name="Google Shape;45;g2ee193558a9_0_58"/>
          <p:cNvSpPr/>
          <p:nvPr/>
        </p:nvSpPr>
        <p:spPr>
          <a:xfrm>
            <a:off x="15034763" y="7586350"/>
            <a:ext cx="3880200" cy="2000700"/>
          </a:xfrm>
          <a:prstGeom prst="wave">
            <a:avLst>
              <a:gd fmla="val 12500" name="adj1"/>
              <a:gd fmla="val 545" name="adj2"/>
            </a:avLst>
          </a:prstGeom>
          <a:solidFill>
            <a:schemeClr val="lt2"/>
          </a:solidFill>
          <a:ln cap="flat" cmpd="sng" w="952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3500"/>
              <a:t>Hidden (ReLU)</a:t>
            </a:r>
            <a:endParaRPr b="1" sz="3500"/>
          </a:p>
        </p:txBody>
      </p:sp>
      <p:sp>
        <p:nvSpPr>
          <p:cNvPr id="46" name="Google Shape;46;g2ee193558a9_0_58"/>
          <p:cNvSpPr/>
          <p:nvPr/>
        </p:nvSpPr>
        <p:spPr>
          <a:xfrm>
            <a:off x="19453353" y="8630025"/>
            <a:ext cx="2330700" cy="1066800"/>
          </a:xfrm>
          <a:prstGeom prst="flowChartAlternateProcess">
            <a:avLst/>
          </a:prstGeom>
          <a:solidFill>
            <a:schemeClr val="lt2"/>
          </a:solidFill>
          <a:ln cap="flat" cmpd="sng" w="952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t>output</a:t>
            </a:r>
            <a:endParaRPr b="1" sz="3600"/>
          </a:p>
        </p:txBody>
      </p:sp>
      <p:cxnSp>
        <p:nvCxnSpPr>
          <p:cNvPr id="47" name="Google Shape;47;g2ee193558a9_0_58"/>
          <p:cNvCxnSpPr>
            <a:stCxn id="45" idx="3"/>
            <a:endCxn id="46" idx="1"/>
          </p:cNvCxnSpPr>
          <p:nvPr/>
        </p:nvCxnSpPr>
        <p:spPr>
          <a:xfrm>
            <a:off x="18893815" y="8586700"/>
            <a:ext cx="559500" cy="576600"/>
          </a:xfrm>
          <a:prstGeom prst="curvedConnector3">
            <a:avLst>
              <a:gd fmla="val 51893" name="adj1"/>
            </a:avLst>
          </a:prstGeom>
          <a:noFill/>
          <a:ln cap="flat" cmpd="sng" w="9525">
            <a:solidFill>
              <a:srgbClr val="741B47"/>
            </a:solidFill>
            <a:prstDash val="solid"/>
            <a:round/>
            <a:headEnd len="med" w="med" type="none"/>
            <a:tailEnd len="med" w="med" type="none"/>
          </a:ln>
        </p:spPr>
      </p:cxnSp>
      <p:cxnSp>
        <p:nvCxnSpPr>
          <p:cNvPr id="48" name="Google Shape;48;g2ee193558a9_0_58"/>
          <p:cNvCxnSpPr>
            <a:stCxn id="44" idx="3"/>
            <a:endCxn id="45" idx="1"/>
          </p:cNvCxnSpPr>
          <p:nvPr/>
        </p:nvCxnSpPr>
        <p:spPr>
          <a:xfrm>
            <a:off x="14576025" y="8405550"/>
            <a:ext cx="480000" cy="181200"/>
          </a:xfrm>
          <a:prstGeom prst="curvedConnector3">
            <a:avLst>
              <a:gd fmla="val 47785" name="adj1"/>
            </a:avLst>
          </a:prstGeom>
          <a:noFill/>
          <a:ln cap="flat" cmpd="sng" w="9525">
            <a:solidFill>
              <a:srgbClr val="741B47"/>
            </a:solidFill>
            <a:prstDash val="solid"/>
            <a:round/>
            <a:headEnd len="med" w="med" type="none"/>
            <a:tailEnd len="med" w="med" type="none"/>
          </a:ln>
        </p:spPr>
      </p:cxnSp>
      <p:cxnSp>
        <p:nvCxnSpPr>
          <p:cNvPr id="49" name="Google Shape;49;g2ee193558a9_0_58"/>
          <p:cNvCxnSpPr>
            <a:stCxn id="50" idx="2"/>
            <a:endCxn id="51" idx="0"/>
          </p:cNvCxnSpPr>
          <p:nvPr/>
        </p:nvCxnSpPr>
        <p:spPr>
          <a:xfrm flipH="1">
            <a:off x="12330588" y="13119238"/>
            <a:ext cx="1537200" cy="833100"/>
          </a:xfrm>
          <a:prstGeom prst="straightConnector1">
            <a:avLst/>
          </a:prstGeom>
          <a:noFill/>
          <a:ln cap="flat" cmpd="sng" w="9525">
            <a:solidFill>
              <a:srgbClr val="741B47"/>
            </a:solidFill>
            <a:prstDash val="solid"/>
            <a:round/>
            <a:headEnd len="med" w="med" type="none"/>
            <a:tailEnd len="med" w="med" type="triangle"/>
          </a:ln>
        </p:spPr>
      </p:cxnSp>
      <p:cxnSp>
        <p:nvCxnSpPr>
          <p:cNvPr id="52" name="Google Shape;52;g2ee193558a9_0_58"/>
          <p:cNvCxnSpPr>
            <a:stCxn id="50" idx="2"/>
            <a:endCxn id="53" idx="0"/>
          </p:cNvCxnSpPr>
          <p:nvPr/>
        </p:nvCxnSpPr>
        <p:spPr>
          <a:xfrm>
            <a:off x="13867788" y="13119238"/>
            <a:ext cx="1450200" cy="833100"/>
          </a:xfrm>
          <a:prstGeom prst="straightConnector1">
            <a:avLst/>
          </a:prstGeom>
          <a:noFill/>
          <a:ln cap="flat" cmpd="sng" w="9525">
            <a:solidFill>
              <a:srgbClr val="741B47"/>
            </a:solidFill>
            <a:prstDash val="solid"/>
            <a:round/>
            <a:headEnd len="med" w="med" type="none"/>
            <a:tailEnd len="med" w="med" type="triangle"/>
          </a:ln>
        </p:spPr>
      </p:cxnSp>
      <p:sp>
        <p:nvSpPr>
          <p:cNvPr id="51" name="Google Shape;51;g2ee193558a9_0_58"/>
          <p:cNvSpPr/>
          <p:nvPr/>
        </p:nvSpPr>
        <p:spPr>
          <a:xfrm>
            <a:off x="11535100" y="13952463"/>
            <a:ext cx="1591200" cy="861900"/>
          </a:xfrm>
          <a:prstGeom prst="flowChartConnector">
            <a:avLst/>
          </a:prstGeom>
          <a:solidFill>
            <a:schemeClr val="lt2"/>
          </a:solidFill>
          <a:ln cap="flat" cmpd="sng" w="952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t>BP</a:t>
            </a:r>
            <a:endParaRPr b="1" sz="3600"/>
          </a:p>
        </p:txBody>
      </p:sp>
      <p:sp>
        <p:nvSpPr>
          <p:cNvPr id="54" name="Google Shape;54;g2ee193558a9_0_58"/>
          <p:cNvSpPr/>
          <p:nvPr/>
        </p:nvSpPr>
        <p:spPr>
          <a:xfrm>
            <a:off x="28625800" y="12077700"/>
            <a:ext cx="952200" cy="800100"/>
          </a:xfrm>
          <a:prstGeom prst="ellipse">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g2ee193558a9_0_58"/>
          <p:cNvSpPr/>
          <p:nvPr/>
        </p:nvSpPr>
        <p:spPr>
          <a:xfrm>
            <a:off x="19285200" y="10946588"/>
            <a:ext cx="2667000" cy="1760400"/>
          </a:xfrm>
          <a:prstGeom prst="roundRect">
            <a:avLst>
              <a:gd fmla="val 16667" name="adj"/>
            </a:avLst>
          </a:prstGeom>
          <a:solidFill>
            <a:schemeClr val="lt2"/>
          </a:solidFill>
          <a:ln cap="flat" cmpd="sng" w="9525">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t>Added Noise</a:t>
            </a:r>
            <a:endParaRPr b="1" sz="3600"/>
          </a:p>
        </p:txBody>
      </p:sp>
      <p:sp>
        <p:nvSpPr>
          <p:cNvPr id="56" name="Google Shape;56;g2ee193558a9_0_58"/>
          <p:cNvSpPr/>
          <p:nvPr/>
        </p:nvSpPr>
        <p:spPr>
          <a:xfrm>
            <a:off x="25168675" y="13705575"/>
            <a:ext cx="3512700" cy="1460400"/>
          </a:xfrm>
          <a:prstGeom prst="flowChartConnector">
            <a:avLst/>
          </a:prstGeom>
          <a:solidFill>
            <a:schemeClr val="lt2"/>
          </a:solidFill>
          <a:ln cap="flat" cmpd="sng" w="952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solidFill>
                  <a:schemeClr val="dk1"/>
                </a:solidFill>
              </a:rPr>
              <a:t>Cosine</a:t>
            </a:r>
            <a:endParaRPr b="1" sz="3600">
              <a:solidFill>
                <a:schemeClr val="dk1"/>
              </a:solidFill>
            </a:endParaRPr>
          </a:p>
          <a:p>
            <a:pPr indent="0" lvl="0" marL="0" rtl="0" algn="ctr">
              <a:spcBef>
                <a:spcPts val="0"/>
              </a:spcBef>
              <a:spcAft>
                <a:spcPts val="0"/>
              </a:spcAft>
              <a:buClr>
                <a:schemeClr val="dk1"/>
              </a:buClr>
              <a:buSzPts val="1100"/>
              <a:buFont typeface="Arial"/>
              <a:buNone/>
            </a:pPr>
            <a:r>
              <a:rPr b="1" lang="en-US" sz="3600">
                <a:solidFill>
                  <a:schemeClr val="dk1"/>
                </a:solidFill>
              </a:rPr>
              <a:t>Similarity</a:t>
            </a:r>
            <a:endParaRPr b="1"/>
          </a:p>
        </p:txBody>
      </p:sp>
      <p:sp>
        <p:nvSpPr>
          <p:cNvPr id="57" name="Google Shape;57;g2ee193558a9_0_58"/>
          <p:cNvSpPr/>
          <p:nvPr/>
        </p:nvSpPr>
        <p:spPr>
          <a:xfrm>
            <a:off x="29391675" y="13769038"/>
            <a:ext cx="1829100" cy="1333500"/>
          </a:xfrm>
          <a:prstGeom prst="flowChartConnector">
            <a:avLst/>
          </a:prstGeom>
          <a:solidFill>
            <a:schemeClr val="lt2"/>
          </a:solidFill>
          <a:ln cap="flat" cmpd="sng" w="952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3600">
                <a:solidFill>
                  <a:schemeClr val="dk1"/>
                </a:solidFill>
              </a:rPr>
              <a:t>SNR</a:t>
            </a:r>
            <a:endParaRPr b="1"/>
          </a:p>
        </p:txBody>
      </p:sp>
      <p:sp>
        <p:nvSpPr>
          <p:cNvPr id="58" name="Google Shape;58;g2ee193558a9_0_58"/>
          <p:cNvSpPr/>
          <p:nvPr/>
        </p:nvSpPr>
        <p:spPr>
          <a:xfrm>
            <a:off x="13867800" y="16223375"/>
            <a:ext cx="5983200" cy="1333500"/>
          </a:xfrm>
          <a:prstGeom prst="rightArrowCallout">
            <a:avLst>
              <a:gd fmla="val 25000" name="adj1"/>
              <a:gd fmla="val 25000" name="adj2"/>
              <a:gd fmla="val 25000" name="adj3"/>
              <a:gd fmla="val 64977" name="adj4"/>
            </a:avLst>
          </a:prstGeom>
          <a:solidFill>
            <a:schemeClr val="lt2"/>
          </a:solidFill>
          <a:ln cap="flat" cmpd="sng" w="952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t>Robustness</a:t>
            </a:r>
            <a:r>
              <a:rPr b="1" lang="en-US" sz="3600"/>
              <a:t> Test</a:t>
            </a:r>
            <a:endParaRPr b="1" sz="3600"/>
          </a:p>
        </p:txBody>
      </p:sp>
      <p:sp>
        <p:nvSpPr>
          <p:cNvPr id="59" name="Google Shape;59;g2ee193558a9_0_58"/>
          <p:cNvSpPr/>
          <p:nvPr/>
        </p:nvSpPr>
        <p:spPr>
          <a:xfrm>
            <a:off x="20239225" y="15633075"/>
            <a:ext cx="9561300" cy="2330700"/>
          </a:xfrm>
          <a:prstGeom prst="flowChartConnector">
            <a:avLst/>
          </a:prstGeom>
          <a:solidFill>
            <a:schemeClr val="lt2"/>
          </a:solidFill>
          <a:ln cap="flat" cmpd="sng" w="952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t>Validation Test under Increasing noise levels (σ, α)</a:t>
            </a:r>
            <a:endParaRPr b="1" sz="3600"/>
          </a:p>
        </p:txBody>
      </p:sp>
      <p:sp>
        <p:nvSpPr>
          <p:cNvPr id="60" name="Google Shape;60;g2ee193558a9_0_58"/>
          <p:cNvSpPr/>
          <p:nvPr/>
        </p:nvSpPr>
        <p:spPr>
          <a:xfrm>
            <a:off x="23890325" y="6739500"/>
            <a:ext cx="6783600" cy="3761100"/>
          </a:xfrm>
          <a:prstGeom prst="flowChartDelay">
            <a:avLst/>
          </a:prstGeom>
          <a:solidFill>
            <a:srgbClr val="EFEFEF"/>
          </a:solidFill>
          <a:ln cap="flat" cmpd="sng" w="952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US" sz="3600">
                <a:solidFill>
                  <a:schemeClr val="dk1"/>
                </a:solidFill>
              </a:rPr>
              <a:t>Training Setup</a:t>
            </a:r>
            <a:r>
              <a:rPr lang="en-US" sz="3600">
                <a:solidFill>
                  <a:schemeClr val="dk1"/>
                </a:solidFill>
              </a:rPr>
              <a:t>:</a:t>
            </a:r>
            <a:br>
              <a:rPr lang="en-US" sz="3600">
                <a:solidFill>
                  <a:schemeClr val="dk1"/>
                </a:solidFill>
              </a:rPr>
            </a:br>
            <a:r>
              <a:rPr lang="en-US" sz="3600">
                <a:solidFill>
                  <a:schemeClr val="dk1"/>
                </a:solidFill>
              </a:rPr>
              <a:t> • Optimizer: Adam (BP)</a:t>
            </a:r>
            <a:br>
              <a:rPr lang="en-US" sz="3600">
                <a:solidFill>
                  <a:schemeClr val="dk1"/>
                </a:solidFill>
              </a:rPr>
            </a:br>
            <a:r>
              <a:rPr lang="en-US" sz="3600">
                <a:solidFill>
                  <a:schemeClr val="dk1"/>
                </a:solidFill>
              </a:rPr>
              <a:t> • Epochs: 10, 50, 100</a:t>
            </a:r>
            <a:br>
              <a:rPr lang="en-US" sz="3600">
                <a:solidFill>
                  <a:schemeClr val="dk1"/>
                </a:solidFill>
              </a:rPr>
            </a:br>
            <a:r>
              <a:rPr lang="en-US" sz="3600">
                <a:solidFill>
                  <a:schemeClr val="dk1"/>
                </a:solidFill>
              </a:rPr>
              <a:t> • Batch size: 128</a:t>
            </a:r>
            <a:br>
              <a:rPr lang="en-US" sz="3600">
                <a:solidFill>
                  <a:schemeClr val="dk1"/>
                </a:solidFill>
              </a:rPr>
            </a:br>
            <a:r>
              <a:rPr lang="en-US" sz="3600">
                <a:solidFill>
                  <a:schemeClr val="dk1"/>
                </a:solidFill>
              </a:rPr>
              <a:t> • Learning rate: 1e-3</a:t>
            </a:r>
            <a:endParaRPr sz="3600">
              <a:solidFill>
                <a:schemeClr val="dk1"/>
              </a:solidFill>
            </a:endParaRPr>
          </a:p>
        </p:txBody>
      </p:sp>
      <p:sp>
        <p:nvSpPr>
          <p:cNvPr id="61" name="Google Shape;61;g2ee193558a9_0_58"/>
          <p:cNvSpPr/>
          <p:nvPr/>
        </p:nvSpPr>
        <p:spPr>
          <a:xfrm>
            <a:off x="22308550" y="8838100"/>
            <a:ext cx="1139400" cy="576600"/>
          </a:xfrm>
          <a:prstGeom prst="right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g2ee193558a9_0_58"/>
          <p:cNvSpPr/>
          <p:nvPr/>
        </p:nvSpPr>
        <p:spPr>
          <a:xfrm>
            <a:off x="17280900" y="13683638"/>
            <a:ext cx="3337800" cy="1333500"/>
          </a:xfrm>
          <a:prstGeom prst="ellipse">
            <a:avLst/>
          </a:prstGeom>
          <a:solidFill>
            <a:schemeClr val="lt2"/>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3600">
                <a:solidFill>
                  <a:schemeClr val="dk1"/>
                </a:solidFill>
              </a:rPr>
              <a:t>Gaussian</a:t>
            </a:r>
            <a:endParaRPr b="1"/>
          </a:p>
        </p:txBody>
      </p:sp>
      <p:sp>
        <p:nvSpPr>
          <p:cNvPr id="63" name="Google Shape;63;g2ee193558a9_0_58"/>
          <p:cNvSpPr/>
          <p:nvPr/>
        </p:nvSpPr>
        <p:spPr>
          <a:xfrm>
            <a:off x="20945675" y="13620187"/>
            <a:ext cx="3512700" cy="1460400"/>
          </a:xfrm>
          <a:prstGeom prst="ellipse">
            <a:avLst/>
          </a:prstGeom>
          <a:solidFill>
            <a:schemeClr val="lt2"/>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3600">
                <a:solidFill>
                  <a:schemeClr val="dk1"/>
                </a:solidFill>
              </a:rPr>
              <a:t>Salt &amp; Pepper</a:t>
            </a:r>
            <a:endParaRPr b="1"/>
          </a:p>
        </p:txBody>
      </p:sp>
      <p:sp>
        <p:nvSpPr>
          <p:cNvPr id="53" name="Google Shape;53;g2ee193558a9_0_58"/>
          <p:cNvSpPr/>
          <p:nvPr/>
        </p:nvSpPr>
        <p:spPr>
          <a:xfrm>
            <a:off x="14522400" y="13952463"/>
            <a:ext cx="1591200" cy="861900"/>
          </a:xfrm>
          <a:prstGeom prst="flowChartConnector">
            <a:avLst/>
          </a:prstGeom>
          <a:solidFill>
            <a:schemeClr val="lt2"/>
          </a:solidFill>
          <a:ln cap="flat" cmpd="sng" w="952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t>FA</a:t>
            </a:r>
            <a:endParaRPr b="1" sz="3600"/>
          </a:p>
        </p:txBody>
      </p:sp>
      <p:cxnSp>
        <p:nvCxnSpPr>
          <p:cNvPr id="64" name="Google Shape;64;g2ee193558a9_0_58"/>
          <p:cNvCxnSpPr>
            <a:stCxn id="55" idx="2"/>
            <a:endCxn id="62" idx="0"/>
          </p:cNvCxnSpPr>
          <p:nvPr/>
        </p:nvCxnSpPr>
        <p:spPr>
          <a:xfrm flipH="1">
            <a:off x="18949800" y="12706988"/>
            <a:ext cx="1668900" cy="976800"/>
          </a:xfrm>
          <a:prstGeom prst="straightConnector1">
            <a:avLst/>
          </a:prstGeom>
          <a:noFill/>
          <a:ln cap="flat" cmpd="sng" w="9525">
            <a:solidFill>
              <a:srgbClr val="741B47"/>
            </a:solidFill>
            <a:prstDash val="solid"/>
            <a:round/>
            <a:headEnd len="med" w="med" type="none"/>
            <a:tailEnd len="med" w="med" type="triangle"/>
          </a:ln>
        </p:spPr>
      </p:cxnSp>
      <p:cxnSp>
        <p:nvCxnSpPr>
          <p:cNvPr id="65" name="Google Shape;65;g2ee193558a9_0_58"/>
          <p:cNvCxnSpPr>
            <a:stCxn id="55" idx="2"/>
            <a:endCxn id="63" idx="0"/>
          </p:cNvCxnSpPr>
          <p:nvPr/>
        </p:nvCxnSpPr>
        <p:spPr>
          <a:xfrm>
            <a:off x="20618700" y="12706988"/>
            <a:ext cx="2083200" cy="913200"/>
          </a:xfrm>
          <a:prstGeom prst="straightConnector1">
            <a:avLst/>
          </a:prstGeom>
          <a:noFill/>
          <a:ln cap="flat" cmpd="sng" w="9525">
            <a:solidFill>
              <a:srgbClr val="741B47"/>
            </a:solidFill>
            <a:prstDash val="solid"/>
            <a:round/>
            <a:headEnd len="med" w="med" type="none"/>
            <a:tailEnd len="med" w="med" type="triangle"/>
          </a:ln>
        </p:spPr>
      </p:cxnSp>
      <p:sp>
        <p:nvSpPr>
          <p:cNvPr id="66" name="Google Shape;66;g2ee193558a9_0_58"/>
          <p:cNvSpPr/>
          <p:nvPr/>
        </p:nvSpPr>
        <p:spPr>
          <a:xfrm>
            <a:off x="25677725" y="11289150"/>
            <a:ext cx="4996200" cy="1333500"/>
          </a:xfrm>
          <a:prstGeom prst="roundRect">
            <a:avLst>
              <a:gd fmla="val 16667" name="adj"/>
            </a:avLst>
          </a:prstGeom>
          <a:solidFill>
            <a:schemeClr val="lt2"/>
          </a:solidFill>
          <a:ln cap="flat" cmpd="sng" w="9525">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solidFill>
                  <a:schemeClr val="dk1"/>
                </a:solidFill>
              </a:rPr>
              <a:t>Learning Dynamics</a:t>
            </a:r>
            <a:endParaRPr b="1" sz="3600"/>
          </a:p>
        </p:txBody>
      </p:sp>
      <p:cxnSp>
        <p:nvCxnSpPr>
          <p:cNvPr id="67" name="Google Shape;67;g2ee193558a9_0_58"/>
          <p:cNvCxnSpPr>
            <a:stCxn id="66" idx="2"/>
            <a:endCxn id="56" idx="0"/>
          </p:cNvCxnSpPr>
          <p:nvPr/>
        </p:nvCxnSpPr>
        <p:spPr>
          <a:xfrm flipH="1">
            <a:off x="26925125" y="12622650"/>
            <a:ext cx="1250700" cy="1083000"/>
          </a:xfrm>
          <a:prstGeom prst="straightConnector1">
            <a:avLst/>
          </a:prstGeom>
          <a:noFill/>
          <a:ln cap="flat" cmpd="sng" w="9525">
            <a:solidFill>
              <a:srgbClr val="741B47"/>
            </a:solidFill>
            <a:prstDash val="solid"/>
            <a:round/>
            <a:headEnd len="med" w="med" type="none"/>
            <a:tailEnd len="med" w="med" type="triangle"/>
          </a:ln>
        </p:spPr>
      </p:cxnSp>
      <p:cxnSp>
        <p:nvCxnSpPr>
          <p:cNvPr id="68" name="Google Shape;68;g2ee193558a9_0_58"/>
          <p:cNvCxnSpPr>
            <a:stCxn id="66" idx="2"/>
            <a:endCxn id="57" idx="0"/>
          </p:cNvCxnSpPr>
          <p:nvPr/>
        </p:nvCxnSpPr>
        <p:spPr>
          <a:xfrm>
            <a:off x="28175825" y="12622650"/>
            <a:ext cx="2130300" cy="1146300"/>
          </a:xfrm>
          <a:prstGeom prst="straightConnector1">
            <a:avLst/>
          </a:prstGeom>
          <a:noFill/>
          <a:ln cap="flat" cmpd="sng" w="9525">
            <a:solidFill>
              <a:srgbClr val="741B47"/>
            </a:solidFill>
            <a:prstDash val="solid"/>
            <a:round/>
            <a:headEnd len="med" w="med" type="none"/>
            <a:tailEnd len="med" w="med" type="triangle"/>
          </a:ln>
        </p:spPr>
      </p:cxnSp>
      <p:sp>
        <p:nvSpPr>
          <p:cNvPr id="50" name="Google Shape;50;g2ee193558a9_0_58"/>
          <p:cNvSpPr/>
          <p:nvPr/>
        </p:nvSpPr>
        <p:spPr>
          <a:xfrm>
            <a:off x="11772288" y="11785738"/>
            <a:ext cx="4191000" cy="1333500"/>
          </a:xfrm>
          <a:prstGeom prst="roundRect">
            <a:avLst>
              <a:gd fmla="val 16667" name="adj"/>
            </a:avLst>
          </a:prstGeom>
          <a:solidFill>
            <a:schemeClr val="lt2"/>
          </a:solidFill>
          <a:ln cap="flat" cmpd="sng" w="9525">
            <a:solidFill>
              <a:srgbClr val="A64D7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solidFill>
                  <a:schemeClr val="dk1"/>
                </a:solidFill>
              </a:rPr>
              <a:t>Learning rules</a:t>
            </a:r>
            <a:endParaRPr b="1" sz="3600">
              <a:solidFill>
                <a:schemeClr val="dk1"/>
              </a:solidFill>
            </a:endParaRPr>
          </a:p>
        </p:txBody>
      </p:sp>
      <p:pic>
        <p:nvPicPr>
          <p:cNvPr id="69" name="Google Shape;69;g2ee193558a9_0_58"/>
          <p:cNvPicPr preferRelativeResize="0"/>
          <p:nvPr/>
        </p:nvPicPr>
        <p:blipFill>
          <a:blip r:embed="rId5">
            <a:alphaModFix/>
          </a:blip>
          <a:stretch>
            <a:fillRect/>
          </a:stretch>
        </p:blipFill>
        <p:spPr>
          <a:xfrm>
            <a:off x="33325225" y="19722913"/>
            <a:ext cx="9561298" cy="5737682"/>
          </a:xfrm>
          <a:prstGeom prst="rect">
            <a:avLst/>
          </a:prstGeom>
          <a:solidFill>
            <a:srgbClr val="D9EAD3"/>
          </a:solidFill>
          <a:ln>
            <a:noFill/>
          </a:ln>
        </p:spPr>
      </p:pic>
      <p:pic>
        <p:nvPicPr>
          <p:cNvPr id="70" name="Google Shape;70;g2ee193558a9_0_58"/>
          <p:cNvPicPr preferRelativeResize="0"/>
          <p:nvPr/>
        </p:nvPicPr>
        <p:blipFill>
          <a:blip r:embed="rId6">
            <a:alphaModFix/>
          </a:blip>
          <a:stretch>
            <a:fillRect/>
          </a:stretch>
        </p:blipFill>
        <p:spPr>
          <a:xfrm>
            <a:off x="11095300" y="26587375"/>
            <a:ext cx="9561226" cy="5162399"/>
          </a:xfrm>
          <a:prstGeom prst="rect">
            <a:avLst/>
          </a:prstGeom>
          <a:solidFill>
            <a:srgbClr val="D9EAD3"/>
          </a:solidFill>
          <a:ln>
            <a:noFill/>
          </a:ln>
        </p:spPr>
      </p:pic>
      <p:pic>
        <p:nvPicPr>
          <p:cNvPr id="71" name="Google Shape;71;g2ee193558a9_0_58"/>
          <p:cNvPicPr preferRelativeResize="0"/>
          <p:nvPr/>
        </p:nvPicPr>
        <p:blipFill>
          <a:blip r:embed="rId7">
            <a:alphaModFix/>
          </a:blip>
          <a:stretch>
            <a:fillRect/>
          </a:stretch>
        </p:blipFill>
        <p:spPr>
          <a:xfrm>
            <a:off x="11095308" y="20310725"/>
            <a:ext cx="9561216" cy="5737676"/>
          </a:xfrm>
          <a:prstGeom prst="rect">
            <a:avLst/>
          </a:prstGeom>
          <a:noFill/>
          <a:ln>
            <a:noFill/>
          </a:ln>
        </p:spPr>
      </p:pic>
      <p:pic>
        <p:nvPicPr>
          <p:cNvPr id="72" name="Google Shape;72;g2ee193558a9_0_58"/>
          <p:cNvPicPr preferRelativeResize="0"/>
          <p:nvPr/>
        </p:nvPicPr>
        <p:blipFill>
          <a:blip r:embed="rId8">
            <a:alphaModFix/>
          </a:blip>
          <a:stretch>
            <a:fillRect/>
          </a:stretch>
        </p:blipFill>
        <p:spPr>
          <a:xfrm>
            <a:off x="21227575" y="19722925"/>
            <a:ext cx="11526600" cy="12073601"/>
          </a:xfrm>
          <a:prstGeom prst="rect">
            <a:avLst/>
          </a:prstGeom>
          <a:noFill/>
          <a:ln>
            <a:noFill/>
          </a:ln>
        </p:spPr>
      </p:pic>
      <p:pic>
        <p:nvPicPr>
          <p:cNvPr id="73" name="Google Shape;73;g2ee193558a9_0_58" title="plot07_hidden_correlaition_sigma_1.5.png"/>
          <p:cNvPicPr preferRelativeResize="0"/>
          <p:nvPr/>
        </p:nvPicPr>
        <p:blipFill>
          <a:blip r:embed="rId9">
            <a:alphaModFix/>
          </a:blip>
          <a:stretch>
            <a:fillRect/>
          </a:stretch>
        </p:blipFill>
        <p:spPr>
          <a:xfrm>
            <a:off x="33325214" y="25742937"/>
            <a:ext cx="9610911" cy="60068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Graphicsland/MakeSigns.com</dc:creator>
</cp:coreProperties>
</file>